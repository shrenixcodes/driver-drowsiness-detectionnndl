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20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02920"/>
            <a:ext cx="10725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5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SRM INSTITUTE OF SCIENCE AND TECHNOLOGY  (SRMIST)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868680"/>
            <a:ext cx="10725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9FB3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B.Tech. CSE (AI &amp; ML) — Section AI1  |  Neural Networks and Deep Learning — Course Project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730545" y="1417320"/>
            <a:ext cx="822960" cy="822960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5" name="Image 0" descr="C:\Users\subho\AppData\Local\Temp\claude\D--repos-Driver-drowsiness-detectionNNDL\78fce23f-d0c7-4e5a-88c2-639831877179\scratchpad\pptx_build\icons\eye_FFFFF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28055" y="1614830"/>
            <a:ext cx="427939" cy="427939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14400" y="2423160"/>
            <a:ext cx="1036015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Spatiotemporal Deep Learning for Real-Time Driver</a:t>
            </a:r>
            <a:endParaRPr lang="en-US" sz="3200" dirty="0"/>
          </a:p>
          <a:p>
            <a:pPr algn="ctr"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Drowsiness Prediction and Early Warning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914400" y="388620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 Baseline  vs.  CNN + GRU / LSTM — a Temporal Deep Learning Comparison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914400" y="4892040"/>
            <a:ext cx="10360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Submitted by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914400" y="5230368"/>
            <a:ext cx="103601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6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Shreyan Bag   |   RA2311026010487</a:t>
            </a:r>
            <a:endParaRPr lang="en-US" sz="1500" dirty="0"/>
          </a:p>
          <a:p>
            <a:pPr algn="ctr" indent="0" marL="0">
              <a:lnSpc>
                <a:spcPts val="26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Shaurya Verma   |   RA2311026010479</a:t>
            </a:r>
            <a:endParaRPr lang="en-US" sz="1500" dirty="0"/>
          </a:p>
          <a:p>
            <a:pPr algn="ctr" indent="0" marL="0">
              <a:lnSpc>
                <a:spcPts val="26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Saarthak Gupta   |   RA2311026010490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914400" y="6419088"/>
            <a:ext cx="10360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8496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coursework prototype — not a certified automotive safety system.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Problem Statement &amp; Motivation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3456432" cy="3657600"/>
          </a:xfrm>
          <a:prstGeom prst="roundRect">
            <a:avLst>
              <a:gd name="adj" fmla="val 2646"/>
            </a:avLst>
          </a:prstGeom>
          <a:solidFill>
            <a:srgbClr val="E9EEF6"/>
          </a:solidFill>
          <a:ln/>
          <a:effectLst>
            <a:outerShdw sx="100000" sy="100000" kx="0" ky="0" algn="bl" rotWithShape="0" blurRad="101600" dist="25400" dir="5400000">
              <a:srgbClr val="1B2A4A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888236" y="1783080"/>
            <a:ext cx="777240" cy="777240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5" name="Image 0" descr="C:\Users\subho\AppData\Local\Temp\claude\D--repos-Driver-drowsiness-detectionNNDL\78fce23f-d0c7-4e5a-88c2-639831877179\scratchpad\pptx_build\icons\alert_triangle_FFFFF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74774" y="1969618"/>
            <a:ext cx="404165" cy="40416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77240" y="2834640"/>
            <a:ext cx="2999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False Alarms, Missed Warnings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822960" y="3520440"/>
            <a:ext cx="2907792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354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Frame-by-frame detectors mistake an ordinary blink for a microsleep — causing false alarms, or missing real drowsiness while the eyes are nominally open.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4279392" y="1417320"/>
            <a:ext cx="3456432" cy="3657600"/>
          </a:xfrm>
          <a:prstGeom prst="roundRect">
            <a:avLst>
              <a:gd name="adj" fmla="val 2646"/>
            </a:avLst>
          </a:prstGeom>
          <a:solidFill>
            <a:srgbClr val="E9EEF6"/>
          </a:solidFill>
          <a:ln/>
          <a:effectLst>
            <a:outerShdw sx="100000" sy="100000" kx="0" ky="0" algn="bl" rotWithShape="0" blurRad="101600" dist="25400" dir="5400000">
              <a:srgbClr val="1B2A4A">
                <a:alpha val="1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5618988" y="1783080"/>
            <a:ext cx="777240" cy="777240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10" name="Image 1" descr="C:\Users\subho\AppData\Local\Temp\claude\D--repos-Driver-drowsiness-detectionNNDL\78fce23f-d0c7-4e5a-88c2-639831877179\scratchpad\pptx_build\icons\clock_FFFFF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5526" y="1969618"/>
            <a:ext cx="404165" cy="404165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507992" y="2834640"/>
            <a:ext cx="2999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Gradual, Not Instant</a:t>
            </a:r>
            <a:endParaRPr lang="en-US" sz="1800" dirty="0"/>
          </a:p>
        </p:txBody>
      </p:sp>
      <p:sp>
        <p:nvSpPr>
          <p:cNvPr id="12" name="Text 8"/>
          <p:cNvSpPr/>
          <p:nvPr/>
        </p:nvSpPr>
        <p:spPr>
          <a:xfrm>
            <a:off x="4553712" y="3520440"/>
            <a:ext cx="2907792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354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Fatigue builds over time: prolonged eye closure, slowing blink rate, yawning. Reasoning over a window of frames fits this far better than reacting to one.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8010144" y="1417320"/>
            <a:ext cx="3456432" cy="3657600"/>
          </a:xfrm>
          <a:prstGeom prst="roundRect">
            <a:avLst>
              <a:gd name="adj" fmla="val 2646"/>
            </a:avLst>
          </a:prstGeom>
          <a:solidFill>
            <a:srgbClr val="E9EEF6"/>
          </a:solidFill>
          <a:ln/>
          <a:effectLst>
            <a:outerShdw sx="100000" sy="100000" kx="0" ky="0" algn="bl" rotWithShape="0" blurRad="101600" dist="25400" dir="5400000">
              <a:srgbClr val="1B2A4A">
                <a:alpha val="18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9349740" y="1783080"/>
            <a:ext cx="777240" cy="777240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15" name="Image 2" descr="C:\Users\subho\AppData\Local\Temp\claude\D--repos-Driver-drowsiness-detectionNNDL\78fce23f-d0c7-4e5a-88c2-639831877179\scratchpad\pptx_build\icons\target_FFFFFF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36278" y="1969618"/>
            <a:ext cx="404165" cy="404165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8238744" y="2834640"/>
            <a:ext cx="2999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Project's Question</a:t>
            </a:r>
            <a:endParaRPr lang="en-US" sz="1800" dirty="0"/>
          </a:p>
        </p:txBody>
      </p:sp>
      <p:sp>
        <p:nvSpPr>
          <p:cNvPr id="17" name="Text 12"/>
          <p:cNvSpPr/>
          <p:nvPr/>
        </p:nvSpPr>
        <p:spPr>
          <a:xfrm>
            <a:off x="8284464" y="3520440"/>
            <a:ext cx="2907792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354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adding temporal modeling (CNN + GRU/LSTM) measurably improve drowsiness prediction over a frame-level CNN baseline — with real, measured numbers?</a:t>
            </a:r>
            <a:endParaRPr lang="en-US" sz="1350" dirty="0"/>
          </a:p>
        </p:txBody>
      </p:sp>
      <p:sp>
        <p:nvSpPr>
          <p:cNvPr id="18" name="Text 13"/>
          <p:cNvSpPr/>
          <p:nvPr/>
        </p:nvSpPr>
        <p:spPr>
          <a:xfrm>
            <a:off x="548640" y="651967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Spatiotemporal Driver Drowsiness Prediction — NNDL Project</a:t>
            </a:r>
            <a:endParaRPr lang="en-US" sz="900" dirty="0"/>
          </a:p>
        </p:txBody>
      </p:sp>
      <p:sp>
        <p:nvSpPr>
          <p:cNvPr id="19" name="Text 14"/>
          <p:cNvSpPr/>
          <p:nvPr/>
        </p:nvSpPr>
        <p:spPr>
          <a:xfrm>
            <a:off x="11183112" y="65196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Project Objectives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08760"/>
            <a:ext cx="11091672" cy="969264"/>
          </a:xfrm>
          <a:prstGeom prst="roundRect">
            <a:avLst>
              <a:gd name="adj" fmla="val 9434"/>
            </a:avLst>
          </a:prstGeom>
          <a:solidFill>
            <a:srgbClr val="E9EEF6"/>
          </a:solidFill>
          <a:ln/>
          <a:effectLst>
            <a:outerShdw sx="100000" sy="100000" kx="0" ky="0" algn="bl" rotWithShape="0" blurRad="101600" dist="25400" dir="5400000">
              <a:srgbClr val="1B2A4A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77240" y="1650492"/>
            <a:ext cx="685800" cy="685800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5" name="Image 0" descr="C:\Users\subho\AppData\Local\Temp\claude\D--repos-Driver-drowsiness-detectionNNDL\78fce23f-d0c7-4e5a-88c2-639831877179\scratchpad\pptx_build\icons\check_circle_FFFFF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" y="1815084"/>
            <a:ext cx="356616" cy="3566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783080" y="1508760"/>
            <a:ext cx="960120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real-time, webcam-based driver drowsiness monitor that runs on a normal laptop CPU.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548640" y="2679192"/>
            <a:ext cx="11091672" cy="969264"/>
          </a:xfrm>
          <a:prstGeom prst="roundRect">
            <a:avLst>
              <a:gd name="adj" fmla="val 9434"/>
            </a:avLst>
          </a:prstGeom>
          <a:solidFill>
            <a:srgbClr val="E9EEF6"/>
          </a:solidFill>
          <a:ln/>
          <a:effectLst>
            <a:outerShdw sx="100000" sy="100000" kx="0" ky="0" algn="bl" rotWithShape="0" blurRad="101600" dist="25400" dir="5400000">
              <a:srgbClr val="1B2A4A">
                <a:alpha val="1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77240" y="2820924"/>
            <a:ext cx="685800" cy="685800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9" name="Image 1" descr="C:\Users\subho\AppData\Local\Temp\claude\D--repos-Driver-drowsiness-detectionNNDL\78fce23f-d0c7-4e5a-88c2-639831877179\scratchpad\pptx_build\icons\layers_FFFFF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1832" y="2985516"/>
            <a:ext cx="356616" cy="35661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783080" y="2679192"/>
            <a:ext cx="960120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 a frame-level CNN baseline (Model A) and a temporal CNN + GRU/LSTM model (Model B) sharing one feature extractor.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548640" y="3849624"/>
            <a:ext cx="11091672" cy="969264"/>
          </a:xfrm>
          <a:prstGeom prst="roundRect">
            <a:avLst>
              <a:gd name="adj" fmla="val 9434"/>
            </a:avLst>
          </a:prstGeom>
          <a:solidFill>
            <a:srgbClr val="E9EEF6"/>
          </a:solidFill>
          <a:ln/>
          <a:effectLst>
            <a:outerShdw sx="100000" sy="100000" kx="0" ky="0" algn="bl" rotWithShape="0" blurRad="101600" dist="25400" dir="5400000">
              <a:srgbClr val="1B2A4A">
                <a:alpha val="18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777240" y="3991356"/>
            <a:ext cx="685800" cy="685800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13" name="Image 2" descr="C:\Users\subho\AppData\Local\Temp\claude\D--repos-Driver-drowsiness-detectionNNDL\78fce23f-d0c7-4e5a-88c2-639831877179\scratchpad\pptx_build\icons\bar_chart_FFFFFF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832" y="4155948"/>
            <a:ext cx="356616" cy="35661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783080" y="3849624"/>
            <a:ext cx="960120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Quantitatively compare both models on accuracy, precision, recall, F1-score, and inference latency.</a:t>
            </a:r>
            <a:endParaRPr lang="en-US" sz="1600" dirty="0"/>
          </a:p>
        </p:txBody>
      </p:sp>
      <p:sp>
        <p:nvSpPr>
          <p:cNvPr id="15" name="Shape 10"/>
          <p:cNvSpPr/>
          <p:nvPr/>
        </p:nvSpPr>
        <p:spPr>
          <a:xfrm>
            <a:off x="548640" y="5020056"/>
            <a:ext cx="11091672" cy="969264"/>
          </a:xfrm>
          <a:prstGeom prst="roundRect">
            <a:avLst>
              <a:gd name="adj" fmla="val 9434"/>
            </a:avLst>
          </a:prstGeom>
          <a:solidFill>
            <a:srgbClr val="E9EEF6"/>
          </a:solidFill>
          <a:ln/>
          <a:effectLst>
            <a:outerShdw sx="100000" sy="100000" kx="0" ky="0" algn="bl" rotWithShape="0" blurRad="101600" dist="25400" dir="5400000">
              <a:srgbClr val="1B2A4A">
                <a:alpha val="18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777240" y="5161788"/>
            <a:ext cx="685800" cy="685800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17" name="Image 3" descr="C:\Users\subho\AppData\Local\Temp\claude\D--repos-Driver-drowsiness-detectionNNDL\78fce23f-d0c7-4e5a-88c2-639831877179\scratchpad\pptx_build\icons\shield_FFFFFF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" y="5326380"/>
            <a:ext cx="356616" cy="356616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783080" y="5020056"/>
            <a:ext cx="960120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temporal smoothing and consecutive-frame debouncing, so momentary misdetections never trigger a false alarm.</a:t>
            </a:r>
            <a:endParaRPr lang="en-US" sz="1600" dirty="0"/>
          </a:p>
        </p:txBody>
      </p:sp>
      <p:sp>
        <p:nvSpPr>
          <p:cNvPr id="19" name="Text 13"/>
          <p:cNvSpPr/>
          <p:nvPr/>
        </p:nvSpPr>
        <p:spPr>
          <a:xfrm>
            <a:off x="548640" y="651967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Spatiotemporal Driver Drowsiness Prediction — NNDL Project</a:t>
            </a:r>
            <a:endParaRPr lang="en-US" sz="900" dirty="0"/>
          </a:p>
        </p:txBody>
      </p:sp>
      <p:sp>
        <p:nvSpPr>
          <p:cNvPr id="20" name="Text 14"/>
          <p:cNvSpPr/>
          <p:nvPr/>
        </p:nvSpPr>
        <p:spPr>
          <a:xfrm>
            <a:off x="11183112" y="65196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System Architecture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3063240" cy="566928"/>
          </a:xfrm>
          <a:prstGeom prst="roundRect">
            <a:avLst>
              <a:gd name="adj" fmla="val 12903"/>
            </a:avLst>
          </a:prstGeom>
          <a:solidFill>
            <a:srgbClr val="E9EEF6"/>
          </a:solidFill>
          <a:ln w="15875">
            <a:solidFill>
              <a:srgbClr val="1B2A4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21792" y="1325880"/>
            <a:ext cx="29169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Webcam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(Live Video Frame)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886200" y="1325880"/>
            <a:ext cx="3611880" cy="566928"/>
          </a:xfrm>
          <a:prstGeom prst="roundRect">
            <a:avLst>
              <a:gd name="adj" fmla="val 12903"/>
            </a:avLst>
          </a:prstGeom>
          <a:solidFill>
            <a:srgbClr val="E9EEF6"/>
          </a:solidFill>
          <a:ln w="15875">
            <a:solidFill>
              <a:srgbClr val="1B2A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959352" y="1325880"/>
            <a:ext cx="34655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&amp; Eye Detection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(MediaPipe / Haar fallback)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772400" y="1325880"/>
            <a:ext cx="3867912" cy="566928"/>
          </a:xfrm>
          <a:prstGeom prst="roundRect">
            <a:avLst>
              <a:gd name="adj" fmla="val 12903"/>
            </a:avLst>
          </a:prstGeom>
          <a:solidFill>
            <a:srgbClr val="E9EEF6"/>
          </a:solidFill>
          <a:ln w="15875">
            <a:solidFill>
              <a:srgbClr val="1B2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45552" y="1325880"/>
            <a:ext cx="37216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 Feature Extraction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(MobileNetV2, transfer learning)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611880" y="1609344"/>
            <a:ext cx="274320" cy="0"/>
          </a:xfrm>
          <a:prstGeom prst="line">
            <a:avLst/>
          </a:prstGeom>
          <a:noFill/>
          <a:ln w="22225">
            <a:solidFill>
              <a:srgbClr val="1B2A4A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7498080" y="1609344"/>
            <a:ext cx="274320" cy="0"/>
          </a:xfrm>
          <a:prstGeom prst="line">
            <a:avLst/>
          </a:prstGeom>
          <a:noFill/>
          <a:ln w="22225">
            <a:solidFill>
              <a:srgbClr val="1B2A4A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9706356" y="1892808"/>
            <a:ext cx="0" cy="320040"/>
          </a:xfrm>
          <a:prstGeom prst="line">
            <a:avLst/>
          </a:prstGeom>
          <a:noFill/>
          <a:ln w="22225">
            <a:solidFill>
              <a:srgbClr val="1B2A4A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3749040" y="2212848"/>
            <a:ext cx="4754880" cy="0"/>
          </a:xfrm>
          <a:prstGeom prst="line">
            <a:avLst/>
          </a:prstGeom>
          <a:noFill/>
          <a:ln w="22225">
            <a:solidFill>
              <a:srgbClr val="1B2A4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749040" y="2212848"/>
            <a:ext cx="0" cy="292608"/>
          </a:xfrm>
          <a:prstGeom prst="line">
            <a:avLst/>
          </a:prstGeom>
          <a:noFill/>
          <a:ln w="22225">
            <a:solidFill>
              <a:srgbClr val="1B2A4A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8503920" y="2212848"/>
            <a:ext cx="0" cy="292608"/>
          </a:xfrm>
          <a:prstGeom prst="line">
            <a:avLst/>
          </a:prstGeom>
          <a:noFill/>
          <a:ln w="22225">
            <a:solidFill>
              <a:srgbClr val="1B2A4A"/>
            </a:solidFill>
            <a:prstDash val="solid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8334756" y="193852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sequence of N frames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1920240" y="2505456"/>
            <a:ext cx="3657600" cy="777240"/>
          </a:xfrm>
          <a:prstGeom prst="roundRect">
            <a:avLst>
              <a:gd name="adj" fmla="val 9412"/>
            </a:avLst>
          </a:prstGeom>
          <a:solidFill>
            <a:srgbClr val="FDEFE0"/>
          </a:solidFill>
          <a:ln w="15875">
            <a:solidFill>
              <a:srgbClr val="1B2A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993392" y="2505456"/>
            <a:ext cx="35112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6B47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A (Baseline)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6B47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 head  →  ALERT / DROWSY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6B47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(single frame)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92240" y="2505456"/>
            <a:ext cx="4023360" cy="777240"/>
          </a:xfrm>
          <a:prstGeom prst="roundRect">
            <a:avLst>
              <a:gd name="adj" fmla="val 9412"/>
            </a:avLst>
          </a:prstGeom>
          <a:solidFill>
            <a:srgbClr val="E4EAF7"/>
          </a:solidFill>
          <a:ln w="15875">
            <a:solidFill>
              <a:srgbClr val="1B2A4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65392" y="2505456"/>
            <a:ext cx="38770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B (Proposed)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GRU/LSTM  →  Dense  →  P(drowsy)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(temporal sequence)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749040" y="3282696"/>
            <a:ext cx="0" cy="292608"/>
          </a:xfrm>
          <a:prstGeom prst="line">
            <a:avLst/>
          </a:prstGeom>
          <a:noFill/>
          <a:ln w="22225">
            <a:solidFill>
              <a:srgbClr val="1B2A4A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8503920" y="3282696"/>
            <a:ext cx="0" cy="292608"/>
          </a:xfrm>
          <a:prstGeom prst="line">
            <a:avLst/>
          </a:prstGeom>
          <a:noFill/>
          <a:ln w="22225">
            <a:solidFill>
              <a:srgbClr val="1B2A4A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3749040" y="3575304"/>
            <a:ext cx="4754880" cy="0"/>
          </a:xfrm>
          <a:prstGeom prst="line">
            <a:avLst/>
          </a:prstGeom>
          <a:noFill/>
          <a:ln w="22225">
            <a:solidFill>
              <a:srgbClr val="1B2A4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126480" y="3575304"/>
            <a:ext cx="0" cy="292608"/>
          </a:xfrm>
          <a:prstGeom prst="line">
            <a:avLst/>
          </a:prstGeom>
          <a:noFill/>
          <a:ln w="22225">
            <a:solidFill>
              <a:srgbClr val="1B2A4A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2377440" y="3867912"/>
            <a:ext cx="7406640" cy="566928"/>
          </a:xfrm>
          <a:prstGeom prst="roundRect">
            <a:avLst>
              <a:gd name="adj" fmla="val 12903"/>
            </a:avLst>
          </a:prstGeom>
          <a:solidFill>
            <a:srgbClr val="E9EEF6"/>
          </a:solidFill>
          <a:ln w="15875">
            <a:solidFill>
              <a:srgbClr val="1B2A4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450592" y="3867912"/>
            <a:ext cx="72603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Drowsiness Logic  —  Smoothing → Threshold → Consecutive-Frame Debounce → State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126480" y="4434840"/>
            <a:ext cx="0" cy="292608"/>
          </a:xfrm>
          <a:prstGeom prst="line">
            <a:avLst/>
          </a:prstGeom>
          <a:noFill/>
          <a:ln w="22225">
            <a:solidFill>
              <a:srgbClr val="1B2A4A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2377440" y="4727448"/>
            <a:ext cx="7406640" cy="566928"/>
          </a:xfrm>
          <a:prstGeom prst="roundRect">
            <a:avLst>
              <a:gd name="adj" fmla="val 12903"/>
            </a:avLst>
          </a:prstGeom>
          <a:solidFill>
            <a:srgbClr val="1B2A4A"/>
          </a:solidFill>
          <a:ln w="15875">
            <a:solidFill>
              <a:srgbClr val="1B2A4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450592" y="4727448"/>
            <a:ext cx="72603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Dashboard  —  Live Feed · Metrics · History Chart · Audio Alarm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48640" y="651967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Spatiotemporal Driver Drowsiness Prediction — NNDL Project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1183112" y="65196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Dataset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349240" cy="3931920"/>
          </a:xfrm>
          <a:prstGeom prst="roundRect">
            <a:avLst>
              <a:gd name="adj" fmla="val 2326"/>
            </a:avLst>
          </a:prstGeom>
          <a:solidFill>
            <a:srgbClr val="E9EEF6"/>
          </a:solidFill>
          <a:ln/>
          <a:effectLst>
            <a:outerShdw sx="100000" sy="100000" kx="0" ky="0" algn="bl" rotWithShape="0" blurRad="101600" dist="25400" dir="5400000">
              <a:srgbClr val="1B2A4A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68680" y="1737360"/>
            <a:ext cx="731520" cy="731520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5" name="Image 0" descr="C:\Users\subho\AppData\Local\Temp\claude\D--repos-Driver-drowsiness-detectionNNDL\78fce23f-d0c7-4e5a-88c2-639831877179\scratchpad\pptx_build\icons\database_FFFFF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4245" y="1912925"/>
            <a:ext cx="380390" cy="38039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783080" y="178308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MRL Eye Dataset — Frame-Level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914400" y="2651760"/>
            <a:ext cx="46177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●"/>
            </a:pPr>
            <a:r>
              <a:rPr lang="en-US" sz="1400" dirty="0">
                <a:solidFill>
                  <a:srgbClr val="354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Large, labeled open/closed eye image collection — trains Model A (baseline).</a:t>
            </a:r>
            <a:endParaRPr lang="en-US" sz="14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●"/>
            </a:pPr>
            <a:r>
              <a:rPr lang="en-US" sz="1400" dirty="0">
                <a:solidFill>
                  <a:srgbClr val="354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Arranged as data/train/{open_eye, closed_eye}/*.jpg</a:t>
            </a:r>
            <a:endParaRPr lang="en-US" sz="14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●"/>
            </a:pPr>
            <a:r>
              <a:rPr lang="en-US" sz="1400" dirty="0">
                <a:solidFill>
                  <a:srgbClr val="354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Validation/test splits auto-derived (stratified) if only train/ is populated.</a:t>
            </a:r>
            <a:endParaRPr lang="en-US" sz="14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●"/>
            </a:pPr>
            <a:r>
              <a:rPr lang="en-US" sz="1400" dirty="0">
                <a:solidFill>
                  <a:srgbClr val="354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Class-balanced sampling handles the typical open/closed imbalance.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291072" y="1417320"/>
            <a:ext cx="5349240" cy="3931920"/>
          </a:xfrm>
          <a:prstGeom prst="roundRect">
            <a:avLst>
              <a:gd name="adj" fmla="val 2326"/>
            </a:avLst>
          </a:prstGeom>
          <a:solidFill>
            <a:srgbClr val="FDEFE0"/>
          </a:solidFill>
          <a:ln/>
          <a:effectLst>
            <a:outerShdw sx="100000" sy="100000" kx="0" ky="0" algn="bl" rotWithShape="0" blurRad="101600" dist="25400" dir="5400000">
              <a:srgbClr val="1B2A4A">
                <a:alpha val="1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611112" y="1737360"/>
            <a:ext cx="731520" cy="731520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10" name="Image 1" descr="C:\Users\subho\AppData\Local\Temp\claude\D--repos-Driver-drowsiness-detectionNNDL\78fce23f-d0c7-4e5a-88c2-639831877179\scratchpad\pptx_build\icons\database_FFFFF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6677" y="1912925"/>
            <a:ext cx="380390" cy="38039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525512" y="178308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NTHU-DDD &amp; YawDD — Video Data</a:t>
            </a:r>
            <a:endParaRPr lang="en-US" sz="1800" dirty="0"/>
          </a:p>
        </p:txBody>
      </p:sp>
      <p:sp>
        <p:nvSpPr>
          <p:cNvPr id="12" name="Text 8"/>
          <p:cNvSpPr/>
          <p:nvPr/>
        </p:nvSpPr>
        <p:spPr>
          <a:xfrm>
            <a:off x="6656832" y="2651760"/>
            <a:ext cx="46177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●"/>
            </a:pPr>
            <a:r>
              <a:rPr lang="en-US" sz="1400" dirty="0">
                <a:solidFill>
                  <a:srgbClr val="354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Genuine drowsy/alert video clips — needed for real temporal dynamics in Model B.</a:t>
            </a:r>
            <a:endParaRPr lang="en-US" sz="14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●"/>
            </a:pPr>
            <a:r>
              <a:rPr lang="en-US" sz="1400" dirty="0">
                <a:solidFill>
                  <a:srgbClr val="354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is gated by the original authors; no fabricated download link is provided.</a:t>
            </a:r>
            <a:endParaRPr lang="en-US" sz="14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●"/>
            </a:pPr>
            <a:r>
              <a:rPr lang="en-US" sz="1400" dirty="0">
                <a:solidFill>
                  <a:srgbClr val="354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Helper script extracts ordered eye-crop sequences once a dataset is obtained.</a:t>
            </a:r>
            <a:endParaRPr lang="en-US" sz="14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●"/>
            </a:pPr>
            <a:r>
              <a:rPr lang="en-US" sz="1400" dirty="0">
                <a:solidFill>
                  <a:srgbClr val="354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Pseudo-sequence fallback (from MRL) keeps the code path runnable — clearly logged as not real temporal data.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548640" y="651967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Spatiotemporal Driver Drowsiness Prediction — NNDL Project</a:t>
            </a:r>
            <a:endParaRPr lang="en-US" sz="900" dirty="0"/>
          </a:p>
        </p:txBody>
      </p:sp>
      <p:sp>
        <p:nvSpPr>
          <p:cNvPr id="14" name="Text 10"/>
          <p:cNvSpPr/>
          <p:nvPr/>
        </p:nvSpPr>
        <p:spPr>
          <a:xfrm>
            <a:off x="11183112" y="65196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Model Architecture: Baseline vs. Proposed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234440"/>
            <a:ext cx="502920" cy="502920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4" name="Image 0" descr="C:\Users\subho\AppData\Local\Temp\claude\D--repos-Driver-drowsiness-detectionNNDL\78fce23f-d0c7-4e5a-88c2-639831877179\scratchpad\pptx_build\icons\cpu_FFFFF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9341" y="1355141"/>
            <a:ext cx="261518" cy="26151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1234440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backbone — MobileNetV2  →  Global Average Pool  →  128-d feature vector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1965960"/>
            <a:ext cx="5349240" cy="4206240"/>
          </a:xfrm>
          <a:prstGeom prst="roundRect">
            <a:avLst>
              <a:gd name="adj" fmla="val 2174"/>
            </a:avLst>
          </a:prstGeom>
          <a:solidFill>
            <a:srgbClr val="E9EEF6"/>
          </a:solidFill>
          <a:ln/>
          <a:effectLst>
            <a:outerShdw sx="100000" sy="100000" kx="0" ky="0" algn="bl" rotWithShape="0" blurRad="101600" dist="25400" dir="5400000">
              <a:srgbClr val="1B2A4A">
                <a:alpha val="18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2834640" y="2286000"/>
            <a:ext cx="777240" cy="777240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8" name="Image 1" descr="C:\Users\subho\AppData\Local\Temp\claude\D--repos-Driver-drowsiness-detectionNNDL\78fce23f-d0c7-4e5a-88c2-639831877179\scratchpad\pptx_build\icons\layers_FFFFF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21178" y="2472538"/>
            <a:ext cx="404165" cy="404165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22960" y="320040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MODEL A — Baseline CNN</a:t>
            </a:r>
            <a:endParaRPr lang="en-US" sz="1800" dirty="0"/>
          </a:p>
        </p:txBody>
      </p:sp>
      <p:sp>
        <p:nvSpPr>
          <p:cNvPr id="10" name="Text 6"/>
          <p:cNvSpPr/>
          <p:nvPr/>
        </p:nvSpPr>
        <p:spPr>
          <a:xfrm>
            <a:off x="914400" y="3794760"/>
            <a:ext cx="46177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●"/>
            </a:pPr>
            <a:r>
              <a:rPr lang="en-US" sz="1350" dirty="0">
                <a:solidFill>
                  <a:srgbClr val="354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Classifies a single eye crop per frame (no temporal context).</a:t>
            </a:r>
            <a:endParaRPr lang="en-US" sz="1350" dirty="0"/>
          </a:p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●"/>
            </a:pPr>
            <a:r>
              <a:rPr lang="en-US" sz="1350" dirty="0">
                <a:solidFill>
                  <a:srgbClr val="354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 head: 128 → 32 → 2 (ALERT / DROWSY logits).</a:t>
            </a:r>
            <a:endParaRPr lang="en-US" sz="1350" dirty="0"/>
          </a:p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●"/>
            </a:pPr>
            <a:r>
              <a:rPr lang="en-US" sz="1350" dirty="0">
                <a:solidFill>
                  <a:srgbClr val="354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Backbone fine-tuned (not frozen) — eye crops differ visually from ImageNet.</a:t>
            </a:r>
            <a:endParaRPr lang="en-US" sz="1350" dirty="0"/>
          </a:p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●"/>
            </a:pPr>
            <a:r>
              <a:rPr lang="en-US" sz="1350" dirty="0">
                <a:solidFill>
                  <a:srgbClr val="354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2,392,034 total parameters.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291072" y="1965960"/>
            <a:ext cx="5349240" cy="4206240"/>
          </a:xfrm>
          <a:prstGeom prst="roundRect">
            <a:avLst>
              <a:gd name="adj" fmla="val 2174"/>
            </a:avLst>
          </a:prstGeom>
          <a:solidFill>
            <a:srgbClr val="FDEFE0"/>
          </a:solidFill>
          <a:ln/>
          <a:effectLst>
            <a:outerShdw sx="100000" sy="100000" kx="0" ky="0" algn="bl" rotWithShape="0" blurRad="101600" dist="25400" dir="5400000">
              <a:srgbClr val="1B2A4A">
                <a:alpha val="18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8577072" y="2286000"/>
            <a:ext cx="777240" cy="777240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13" name="Image 2" descr="C:\Users\subho\AppData\Local\Temp\claude\D--repos-Driver-drowsiness-detectionNNDL\78fce23f-d0c7-4e5a-88c2-639831877179\scratchpad\pptx_build\icons\activity_FFFFFF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63610" y="2472538"/>
            <a:ext cx="404165" cy="404165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565392" y="320040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MODEL B — CNN + GRU/LSTM</a:t>
            </a:r>
            <a:endParaRPr lang="en-US" sz="1800" dirty="0"/>
          </a:p>
        </p:txBody>
      </p:sp>
      <p:sp>
        <p:nvSpPr>
          <p:cNvPr id="15" name="Text 10"/>
          <p:cNvSpPr/>
          <p:nvPr/>
        </p:nvSpPr>
        <p:spPr>
          <a:xfrm>
            <a:off x="6656832" y="3794760"/>
            <a:ext cx="46177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●"/>
            </a:pPr>
            <a:r>
              <a:rPr lang="en-US" sz="1350" dirty="0">
                <a:solidFill>
                  <a:srgbClr val="354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Stacks 128-d features from the last 15 frames (SEQUENCE_LENGTH, configurable).</a:t>
            </a:r>
            <a:endParaRPr lang="en-US" sz="1350" dirty="0"/>
          </a:p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●"/>
            </a:pPr>
            <a:r>
              <a:rPr lang="en-US" sz="1350" dirty="0">
                <a:solidFill>
                  <a:srgbClr val="354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 (hidden=64, LSTM selectable) → Dense 64 → 32 → 2.</a:t>
            </a:r>
            <a:endParaRPr lang="en-US" sz="1350" dirty="0"/>
          </a:p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●"/>
            </a:pPr>
            <a:r>
              <a:rPr lang="en-US" sz="1350" dirty="0">
                <a:solidFill>
                  <a:srgbClr val="354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Backbone frozen — sequence data is scarcer, so only the head is trained.</a:t>
            </a:r>
            <a:endParaRPr lang="en-US" sz="1350" dirty="0"/>
          </a:p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●"/>
            </a:pPr>
            <a:r>
              <a:rPr lang="en-US" sz="1350" dirty="0">
                <a:solidFill>
                  <a:srgbClr val="354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2,427,234 total parameters; GRU ≈25% fewer params than an equivalent LSTM.</a:t>
            </a:r>
            <a:endParaRPr lang="en-US" sz="1350" dirty="0"/>
          </a:p>
        </p:txBody>
      </p:sp>
      <p:sp>
        <p:nvSpPr>
          <p:cNvPr id="16" name="Text 11"/>
          <p:cNvSpPr/>
          <p:nvPr/>
        </p:nvSpPr>
        <p:spPr>
          <a:xfrm>
            <a:off x="548640" y="651967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Spatiotemporal Driver Drowsiness Prediction — NNDL Project</a:t>
            </a:r>
            <a:endParaRPr lang="en-US" sz="900" dirty="0"/>
          </a:p>
        </p:txBody>
      </p:sp>
      <p:sp>
        <p:nvSpPr>
          <p:cNvPr id="17" name="Text 12"/>
          <p:cNvSpPr/>
          <p:nvPr/>
        </p:nvSpPr>
        <p:spPr>
          <a:xfrm>
            <a:off x="11183112" y="65196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Real-Time Streamlit Dashboard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49240" cy="1600200"/>
          </a:xfrm>
          <a:prstGeom prst="roundRect">
            <a:avLst>
              <a:gd name="adj" fmla="val 5714"/>
            </a:avLst>
          </a:prstGeom>
          <a:solidFill>
            <a:srgbClr val="E9EEF6"/>
          </a:solidFill>
          <a:ln/>
          <a:effectLst>
            <a:outerShdw sx="100000" sy="100000" kx="0" ky="0" algn="bl" rotWithShape="0" blurRad="101600" dist="25400" dir="5400000">
              <a:srgbClr val="1B2A4A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22960" y="1874520"/>
            <a:ext cx="777240" cy="777240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5" name="Image 0" descr="C:\Users\subho\AppData\Local\Temp\claude\D--repos-Driver-drowsiness-detectionNNDL\78fce23f-d0c7-4e5a-88c2-639831877179\scratchpad\pptx_build\icons\monitor_FFFFF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9498" y="2061058"/>
            <a:ext cx="404165" cy="40416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783080" y="1691640"/>
            <a:ext cx="3886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Live Annotated Feed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1783080" y="2121408"/>
            <a:ext cx="3886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354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bounding box overlay with a colour-coded ALERT / DROWSY / HIGH-RISK status badge, updated every frame.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291072" y="1463040"/>
            <a:ext cx="5349240" cy="1600200"/>
          </a:xfrm>
          <a:prstGeom prst="roundRect">
            <a:avLst>
              <a:gd name="adj" fmla="val 5714"/>
            </a:avLst>
          </a:prstGeom>
          <a:solidFill>
            <a:srgbClr val="E9EEF6"/>
          </a:solidFill>
          <a:ln/>
          <a:effectLst>
            <a:outerShdw sx="100000" sy="100000" kx="0" ky="0" algn="bl" rotWithShape="0" blurRad="101600" dist="25400" dir="5400000">
              <a:srgbClr val="1B2A4A">
                <a:alpha val="1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565392" y="1874520"/>
            <a:ext cx="777240" cy="777240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10" name="Image 1" descr="C:\Users\subho\AppData\Local\Temp\claude\D--repos-Driver-drowsiness-detectionNNDL\78fce23f-d0c7-4e5a-88c2-639831877179\scratchpad\pptx_build\icons\bar_chart_FFFFF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51930" y="2061058"/>
            <a:ext cx="404165" cy="404165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525512" y="1691640"/>
            <a:ext cx="3886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Probability History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7525512" y="2121408"/>
            <a:ext cx="3886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354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scrolling drowsiness-probability chart with the drowsy and high-risk thresholds drawn as reference lines.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548640" y="3337560"/>
            <a:ext cx="5349240" cy="1600200"/>
          </a:xfrm>
          <a:prstGeom prst="roundRect">
            <a:avLst>
              <a:gd name="adj" fmla="val 5714"/>
            </a:avLst>
          </a:prstGeom>
          <a:solidFill>
            <a:srgbClr val="E9EEF6"/>
          </a:solidFill>
          <a:ln/>
          <a:effectLst>
            <a:outerShdw sx="100000" sy="100000" kx="0" ky="0" algn="bl" rotWithShape="0" blurRad="101600" dist="25400" dir="5400000">
              <a:srgbClr val="1B2A4A">
                <a:alpha val="18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822960" y="3749040"/>
            <a:ext cx="777240" cy="777240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15" name="Image 2" descr="C:\Users\subho\AppData\Local\Temp\claude\D--repos-Driver-drowsiness-detectionNNDL\78fce23f-d0c7-4e5a-88c2-639831877179\scratchpad\pptx_build\icons\activity_FFFFFF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9498" y="3935578"/>
            <a:ext cx="404165" cy="404165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783080" y="3566160"/>
            <a:ext cx="3886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Eye &amp; Yawn Tracking</a:t>
            </a:r>
            <a:endParaRPr lang="en-US" sz="1600" dirty="0"/>
          </a:p>
        </p:txBody>
      </p:sp>
      <p:sp>
        <p:nvSpPr>
          <p:cNvPr id="17" name="Text 12"/>
          <p:cNvSpPr/>
          <p:nvPr/>
        </p:nvSpPr>
        <p:spPr>
          <a:xfrm>
            <a:off x="1783080" y="3995928"/>
            <a:ext cx="3886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354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Eye state, blink rate per minute, and yawn count — all derived live from the EAR/MAR signals.</a:t>
            </a:r>
            <a:endParaRPr lang="en-US" sz="1250" dirty="0"/>
          </a:p>
        </p:txBody>
      </p:sp>
      <p:sp>
        <p:nvSpPr>
          <p:cNvPr id="18" name="Shape 13"/>
          <p:cNvSpPr/>
          <p:nvPr/>
        </p:nvSpPr>
        <p:spPr>
          <a:xfrm>
            <a:off x="6291072" y="3337560"/>
            <a:ext cx="5349240" cy="1600200"/>
          </a:xfrm>
          <a:prstGeom prst="roundRect">
            <a:avLst>
              <a:gd name="adj" fmla="val 5714"/>
            </a:avLst>
          </a:prstGeom>
          <a:solidFill>
            <a:srgbClr val="E9EEF6"/>
          </a:solidFill>
          <a:ln/>
          <a:effectLst>
            <a:outerShdw sx="100000" sy="100000" kx="0" ky="0" algn="bl" rotWithShape="0" blurRad="101600" dist="25400" dir="5400000">
              <a:srgbClr val="1B2A4A">
                <a:alpha val="18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6565392" y="3749040"/>
            <a:ext cx="777240" cy="777240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20" name="Image 3" descr="C:\Users\subho\AppData\Local\Temp\claude\D--repos-Driver-drowsiness-detectionNNDL\78fce23f-d0c7-4e5a-88c2-639831877179\scratchpad\pptx_build\icons\volume_FFFFFF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1930" y="3935578"/>
            <a:ext cx="404165" cy="404165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7525512" y="3566160"/>
            <a:ext cx="3886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Debounced Audio Alarm</a:t>
            </a:r>
            <a:endParaRPr lang="en-US" sz="1600" dirty="0"/>
          </a:p>
        </p:txBody>
      </p:sp>
      <p:sp>
        <p:nvSpPr>
          <p:cNvPr id="22" name="Text 16"/>
          <p:cNvSpPr/>
          <p:nvPr/>
        </p:nvSpPr>
        <p:spPr>
          <a:xfrm>
            <a:off x="7525512" y="3995928"/>
            <a:ext cx="3886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354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locally-synthesized alarm tone plays only after sustained high-risk frames — never on a single bad frame.</a:t>
            </a:r>
            <a:endParaRPr lang="en-US" sz="1250" dirty="0"/>
          </a:p>
        </p:txBody>
      </p:sp>
      <p:sp>
        <p:nvSpPr>
          <p:cNvPr id="23" name="Text 17"/>
          <p:cNvSpPr/>
          <p:nvPr/>
        </p:nvSpPr>
        <p:spPr>
          <a:xfrm>
            <a:off x="548640" y="651967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Spatiotemporal Driver Drowsiness Prediction — NNDL Project</a:t>
            </a:r>
            <a:endParaRPr lang="en-US" sz="900" dirty="0"/>
          </a:p>
        </p:txBody>
      </p:sp>
      <p:sp>
        <p:nvSpPr>
          <p:cNvPr id="24" name="Text 18"/>
          <p:cNvSpPr/>
          <p:nvPr/>
        </p:nvSpPr>
        <p:spPr>
          <a:xfrm>
            <a:off x="11183112" y="65196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Evaluation Methodology &amp; Results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640080" cy="640080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4" name="Image 0" descr="C:\Users\subho\AppData\Local\Temp\claude\D--repos-Driver-drowsiness-detectionNNDL\78fce23f-d0c7-4e5a-88c2-639831877179\scratchpad\pptx_build\icons\check_circle_FFFFF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2259" y="1616659"/>
            <a:ext cx="332842" cy="33284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71600" y="1463040"/>
            <a:ext cx="3337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Protocol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594360" y="2286000"/>
            <a:ext cx="416052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●"/>
            </a:pPr>
            <a:r>
              <a:rPr lang="en-US" sz="1350" dirty="0">
                <a:solidFill>
                  <a:srgbClr val="354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Accuracy, precision, recall, F1-score (positive class = DROWSY).</a:t>
            </a:r>
            <a:endParaRPr lang="en-US" sz="135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●"/>
            </a:pPr>
            <a:r>
              <a:rPr lang="en-US" sz="1350" dirty="0">
                <a:solidFill>
                  <a:srgbClr val="354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Confusion matrix + full classification report per model.</a:t>
            </a:r>
            <a:endParaRPr lang="en-US" sz="135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●"/>
            </a:pPr>
            <a:r>
              <a:rPr lang="en-US" sz="1350" dirty="0">
                <a:solidFill>
                  <a:srgbClr val="354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 single-frame (Model A) / single-update (Model B) inference latency — matched to real-time usage.</a:t>
            </a:r>
            <a:endParaRPr lang="en-US" sz="135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●"/>
            </a:pPr>
            <a:r>
              <a:rPr lang="en-US" sz="1350" dirty="0">
                <a:solidFill>
                  <a:srgbClr val="354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genuinely trained &amp; evaluated models appear — no invented numbers.</a:t>
            </a:r>
            <a:endParaRPr lang="en-US" sz="13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0" y="1463040"/>
          <a:ext cx="658368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377440"/>
                <a:gridCol w="237744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7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(CNN Baseline)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7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B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(CNN + GRU/LSTM)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7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Accuracy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7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i="1" dirty="0">
                          <a:solidFill>
                            <a:srgbClr val="5B6B8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Pending evaluate.py run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7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i="1" dirty="0">
                          <a:solidFill>
                            <a:srgbClr val="5B6B8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Pending evaluate.py run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7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Precision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7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i="1" dirty="0">
                          <a:solidFill>
                            <a:srgbClr val="5B6B8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Pending evaluate.py run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7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i="1" dirty="0">
                          <a:solidFill>
                            <a:srgbClr val="5B6B8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Pending evaluate.py run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7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7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i="1" dirty="0">
                          <a:solidFill>
                            <a:srgbClr val="5B6B8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Pending evaluate.py run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7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i="1" dirty="0">
                          <a:solidFill>
                            <a:srgbClr val="5B6B8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Pending evaluate.py run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7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F1-Score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7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i="1" dirty="0">
                          <a:solidFill>
                            <a:srgbClr val="5B6B8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Pending evaluate.py run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7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i="1" dirty="0">
                          <a:solidFill>
                            <a:srgbClr val="5B6B8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Pending evaluate.py run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7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Inference Time (ms)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7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i="1" dirty="0">
                          <a:solidFill>
                            <a:srgbClr val="5B6B8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Pending evaluate.py run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7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i="1" dirty="0">
                          <a:solidFill>
                            <a:srgbClr val="5B6B8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Pending evaluate.py run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C7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7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7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7D2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5029200" y="4709160"/>
            <a:ext cx="6583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Populated verbatim from outputs/metrics/comparison_table.csv after running python src/train.py and python src/evaluate.py — nothing here is fabricated.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548640" y="651967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Spatiotemporal Driver Drowsiness Prediction — NNDL Project</a:t>
            </a:r>
            <a:endParaRPr lang="en-US" sz="900" dirty="0"/>
          </a:p>
        </p:txBody>
      </p:sp>
      <p:sp>
        <p:nvSpPr>
          <p:cNvPr id="10" name="Text 6"/>
          <p:cNvSpPr/>
          <p:nvPr/>
        </p:nvSpPr>
        <p:spPr>
          <a:xfrm>
            <a:off x="11183112" y="65196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Limitations &amp; Future 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349240" cy="3931920"/>
          </a:xfrm>
          <a:prstGeom prst="roundRect">
            <a:avLst>
              <a:gd name="adj" fmla="val 2326"/>
            </a:avLst>
          </a:prstGeom>
          <a:solidFill>
            <a:srgbClr val="E9EEF6"/>
          </a:solidFill>
          <a:ln/>
          <a:effectLst>
            <a:outerShdw sx="100000" sy="100000" kx="0" ky="0" algn="bl" rotWithShape="0" blurRad="101600" dist="25400" dir="5400000">
              <a:srgbClr val="1B2A4A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68680" y="1737360"/>
            <a:ext cx="685800" cy="685800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5" name="Image 0" descr="C:\Users\subho\AppData\Local\Temp\claude\D--repos-Driver-drowsiness-detectionNNDL\78fce23f-d0c7-4e5a-88c2-639831877179\scratchpad\pptx_build\icons\alert_circle_FFFFF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272" y="1901952"/>
            <a:ext cx="356616" cy="3566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737360" y="178308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2A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Limitations</a:t>
            </a:r>
            <a:endParaRPr lang="en-US" sz="1900" dirty="0"/>
          </a:p>
        </p:txBody>
      </p:sp>
      <p:sp>
        <p:nvSpPr>
          <p:cNvPr id="7" name="Text 4"/>
          <p:cNvSpPr/>
          <p:nvPr/>
        </p:nvSpPr>
        <p:spPr>
          <a:xfrm>
            <a:off x="914400" y="2606040"/>
            <a:ext cx="46177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●"/>
            </a:pPr>
            <a:r>
              <a:rPr lang="en-US" sz="1350" dirty="0">
                <a:solidFill>
                  <a:srgbClr val="354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prototype only — not a certified automotive safety system.</a:t>
            </a:r>
            <a:endParaRPr lang="en-US" sz="135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●"/>
            </a:pPr>
            <a:r>
              <a:rPr lang="en-US" sz="1350" dirty="0">
                <a:solidFill>
                  <a:srgbClr val="354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a real video dataset, Model B trains on pseudo-sequences (no genuine temporal dynamics).</a:t>
            </a:r>
            <a:endParaRPr lang="en-US" sz="135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●"/>
            </a:pPr>
            <a:r>
              <a:rPr lang="en-US" sz="1350" dirty="0">
                <a:solidFill>
                  <a:srgbClr val="354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Haar-cascade fallback gives coarser EAR and no MAR/head-pose signal.</a:t>
            </a:r>
            <a:endParaRPr lang="en-US" sz="135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●"/>
            </a:pPr>
            <a:r>
              <a:rPr lang="en-US" sz="1350" dirty="0">
                <a:solidFill>
                  <a:srgbClr val="354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depends on adequate lighting and a front-facing camera.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291072" y="1417320"/>
            <a:ext cx="5349240" cy="3931920"/>
          </a:xfrm>
          <a:prstGeom prst="roundRect">
            <a:avLst>
              <a:gd name="adj" fmla="val 2326"/>
            </a:avLst>
          </a:prstGeom>
          <a:solidFill>
            <a:srgbClr val="E7F2EC"/>
          </a:solidFill>
          <a:ln/>
          <a:effectLst>
            <a:outerShdw sx="100000" sy="100000" kx="0" ky="0" algn="bl" rotWithShape="0" blurRad="101600" dist="25400" dir="5400000">
              <a:srgbClr val="1B2A4A">
                <a:alpha val="1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611112" y="1737360"/>
            <a:ext cx="685800" cy="685800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10" name="Image 1" descr="C:\Users\subho\AppData\Local\Temp\claude\D--repos-Driver-drowsiness-detectionNNDL\78fce23f-d0c7-4e5a-88c2-639831877179\scratchpad\pptx_build\icons\trending_up_FFFFF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5704" y="1901952"/>
            <a:ext cx="356616" cy="35661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479792" y="178308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2A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Future Work</a:t>
            </a:r>
            <a:endParaRPr lang="en-US" sz="1900" dirty="0"/>
          </a:p>
        </p:txBody>
      </p:sp>
      <p:sp>
        <p:nvSpPr>
          <p:cNvPr id="12" name="Text 8"/>
          <p:cNvSpPr/>
          <p:nvPr/>
        </p:nvSpPr>
        <p:spPr>
          <a:xfrm>
            <a:off x="6656832" y="2606040"/>
            <a:ext cx="46177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●"/>
            </a:pPr>
            <a:r>
              <a:rPr lang="en-US" sz="1350" dirty="0">
                <a:solidFill>
                  <a:srgbClr val="354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Train/evaluate Model B on a genuine video dataset (NTHU-DDD or YawDD).</a:t>
            </a:r>
            <a:endParaRPr lang="en-US" sz="135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●"/>
            </a:pPr>
            <a:r>
              <a:rPr lang="en-US" sz="1350" dirty="0">
                <a:solidFill>
                  <a:srgbClr val="354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Per-user calibration of EAR/MAR thresholds via a short on-device step.</a:t>
            </a:r>
            <a:endParaRPr lang="en-US" sz="135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●"/>
            </a:pPr>
            <a:r>
              <a:rPr lang="en-US" sz="1350" dirty="0">
                <a:solidFill>
                  <a:srgbClr val="354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Learned (rather than rule-based) fusion of eye, yawn, and head-pose signals.</a:t>
            </a:r>
            <a:endParaRPr lang="en-US" sz="135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●"/>
            </a:pPr>
            <a:r>
              <a:rPr lang="en-US" sz="1350" dirty="0">
                <a:solidFill>
                  <a:srgbClr val="354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 attention-based temporal models and on-device quantization.</a:t>
            </a:r>
            <a:endParaRPr lang="en-US" sz="1350" dirty="0"/>
          </a:p>
        </p:txBody>
      </p:sp>
      <p:sp>
        <p:nvSpPr>
          <p:cNvPr id="13" name="Text 9"/>
          <p:cNvSpPr/>
          <p:nvPr/>
        </p:nvSpPr>
        <p:spPr>
          <a:xfrm>
            <a:off x="548640" y="6519672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Spatiotemporal Driver Drowsiness Prediction — NNDL Project</a:t>
            </a:r>
            <a:endParaRPr lang="en-US" sz="900" dirty="0"/>
          </a:p>
        </p:txBody>
      </p:sp>
      <p:sp>
        <p:nvSpPr>
          <p:cNvPr id="14" name="Text 10"/>
          <p:cNvSpPr/>
          <p:nvPr/>
        </p:nvSpPr>
        <p:spPr>
          <a:xfrm>
            <a:off x="11183112" y="65196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320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40080"/>
            <a:ext cx="10360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8A33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Conclusion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1371600" y="1417320"/>
            <a:ext cx="94457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90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complete, verified spatiotemporal deep-learning pipeline — ready to answer, with real measured numbers, whether temporal modeling genuinely improves drowsiness prediction over a frame-level baseline.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1981048" y="2880360"/>
            <a:ext cx="731520" cy="731520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5" name="Image 0" descr="C:\Users\subho\AppData\Local\Temp\claude\D--repos-Driver-drowsiness-detectionNNDL\78fce23f-d0c7-4e5a-88c2-639831877179\scratchpad\pptx_build\icons\layers_FFFFF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56612" y="3055925"/>
            <a:ext cx="380390" cy="38039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0888" y="379476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 Models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700888" y="425196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FB3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 baseline vs. CNN + GRU/LSTM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730088" y="2880360"/>
            <a:ext cx="731520" cy="731520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9" name="Image 1" descr="C:\Users\subho\AppData\Local\Temp\claude\D--repos-Driver-drowsiness-detectionNNDL\78fce23f-d0c7-4e5a-88c2-639831877179\scratchpad\pptx_build\icons\clock_FFFFF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05652" y="3055925"/>
            <a:ext cx="380390" cy="38039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449928" y="379476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15-Frame Window</a:t>
            </a:r>
            <a:endParaRPr lang="en-US" sz="2000" dirty="0"/>
          </a:p>
        </p:txBody>
      </p:sp>
      <p:sp>
        <p:nvSpPr>
          <p:cNvPr id="11" name="Text 7"/>
          <p:cNvSpPr/>
          <p:nvPr/>
        </p:nvSpPr>
        <p:spPr>
          <a:xfrm>
            <a:off x="4449928" y="425196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FB3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configurable temporal sequence length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9479128" y="2880360"/>
            <a:ext cx="731520" cy="731520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13" name="Image 2" descr="C:\Users\subho\AppData\Local\Temp\claude\D--repos-Driver-drowsiness-detectionNNDL\78fce23f-d0c7-4e5a-88c2-639831877179\scratchpad\pptx_build\icons\cpu_FFFFFF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54692" y="3055925"/>
            <a:ext cx="380390" cy="38039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8198968" y="379476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Real-Time on CPU</a:t>
            </a:r>
            <a:endParaRPr lang="en-US" sz="2000" dirty="0"/>
          </a:p>
        </p:txBody>
      </p:sp>
      <p:sp>
        <p:nvSpPr>
          <p:cNvPr id="15" name="Text 10"/>
          <p:cNvSpPr/>
          <p:nvPr/>
        </p:nvSpPr>
        <p:spPr>
          <a:xfrm>
            <a:off x="8198968" y="425196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FB3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GPU required for inference</a:t>
            </a:r>
            <a:endParaRPr lang="en-US" sz="1200" dirty="0"/>
          </a:p>
        </p:txBody>
      </p:sp>
      <p:sp>
        <p:nvSpPr>
          <p:cNvPr id="16" name="Text 11"/>
          <p:cNvSpPr/>
          <p:nvPr/>
        </p:nvSpPr>
        <p:spPr>
          <a:xfrm>
            <a:off x="914400" y="5212080"/>
            <a:ext cx="103601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E8A33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Thank You</a:t>
            </a:r>
            <a:endParaRPr lang="en-US" sz="3400" dirty="0"/>
          </a:p>
        </p:txBody>
      </p:sp>
      <p:sp>
        <p:nvSpPr>
          <p:cNvPr id="17" name="Text 12"/>
          <p:cNvSpPr/>
          <p:nvPr/>
        </p:nvSpPr>
        <p:spPr>
          <a:xfrm>
            <a:off x="914400" y="5989320"/>
            <a:ext cx="10360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Shreyan Bag  •  Shaurya Verma  •  Saarthak Gupta   |   NNDL, SRMIST, Section AI1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914400" y="6419088"/>
            <a:ext cx="10360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8496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coursework prototype — not a certified automotive safety system.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Spatiotemporal Deep Learning for Real-Time Driver Drowsiness Prediction</dc:title>
  <dc:subject>PptxGenJS Presentation</dc:subject>
  <dc:creator>Shreyan Bag, Shaurya Verma, Saarthak Gupta</dc:creator>
  <cp:lastModifiedBy>Shreyan Bag, Shaurya Verma, Saarthak Gupta</cp:lastModifiedBy>
  <cp:revision>1</cp:revision>
  <dcterms:created xsi:type="dcterms:W3CDTF">2026-09-16T00:39:53Z</dcterms:created>
  <dcterms:modified xsi:type="dcterms:W3CDTF">2026-09-16T00:39:53Z</dcterms:modified>
</cp:coreProperties>
</file>